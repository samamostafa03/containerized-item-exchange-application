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61" r:id="rId2"/>
    <p:sldId id="268" r:id="rId3"/>
    <p:sldId id="269" r:id="rId4"/>
    <p:sldId id="271" r:id="rId5"/>
    <p:sldId id="265" r:id="rId6"/>
    <p:sldId id="264" r:id="rId7"/>
    <p:sldId id="275" r:id="rId8"/>
    <p:sldId id="276" r:id="rId9"/>
    <p:sldId id="277" r:id="rId10"/>
    <p:sldId id="278" r:id="rId11"/>
    <p:sldId id="272" r:id="rId12"/>
    <p:sldId id="273" r:id="rId13"/>
    <p:sldId id="274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4660"/>
  </p:normalViewPr>
  <p:slideViewPr>
    <p:cSldViewPr snapToGrid="0">
      <p:cViewPr>
        <p:scale>
          <a:sx n="100" d="100"/>
          <a:sy n="100" d="100"/>
        </p:scale>
        <p:origin x="87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5CAB7560-179B-B716-DA68-224146052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89B080BB-C5F4-D4EF-516D-004D90C1F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4C51193B-29A7-C54C-C132-CA7F4E04AB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6323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627E593-DC3A-1BD8-3A59-58ED02157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EF356F92-8759-C5BC-AC2F-29F8C1286F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BD894EE9-89A6-BD61-466A-B822708173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1221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83326F9-7312-07B2-C48A-B8DA121B9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CC9854D-B989-0C5D-7274-B6A9085F11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7F8CA00C-C085-32D3-F184-04796B266F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7591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30880984-F253-1F1D-52A2-413EABB23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A2DDF4C3-A549-65FB-DD0C-760095F889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633BE295-C90E-783C-D2ED-FCE8A74001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523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5720684C-E1DB-6CC1-B045-C9DDA226D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C6FA74C2-737C-60CA-028B-AD886E96D4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D27A9E43-42E1-E994-97D9-BC5E4CE24E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3287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30B40838-6ACC-1AF5-0017-4DF654448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BEE086A-3A23-4317-61CE-7D2C3BDEE5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BB0D7FBD-B27C-215F-FC27-9344E51D5A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9442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D6165670-A398-0BE4-475E-328C9E9FE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AE37BD9C-3A28-A2AA-845D-AC6BF0B0C2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8ED2DA0A-6989-4311-2537-E385A15307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44821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875D61-75EF-AF7F-DEE8-0F4FC16F5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76DF16C6-EC0B-5B2B-1A46-0CFF3CDA9E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03124955-DB32-7811-06C5-F268FDC93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0482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16.170.173.4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sz="4800" dirty="0"/>
              <a:t>Containerized Item Exchange Application</a:t>
            </a:r>
            <a:endParaRPr sz="4800" dirty="0"/>
          </a:p>
        </p:txBody>
      </p:sp>
      <p:sp>
        <p:nvSpPr>
          <p:cNvPr id="161" name="Google Shape;161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dirty="0"/>
              <a:t>Full DevOps Deployment</a:t>
            </a:r>
            <a:endParaRPr dirty="0"/>
          </a:p>
        </p:txBody>
      </p:sp>
      <p:sp>
        <p:nvSpPr>
          <p:cNvPr id="162" name="Google Shape;16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64" name="Google Shape;16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D76960BE-DA68-AD54-037E-4185C12CA702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>
            <a:spLocks noGrp="1"/>
          </p:cNvSpPr>
          <p:nvPr>
            <p:ph type="body" idx="1"/>
          </p:nvPr>
        </p:nvSpPr>
        <p:spPr>
          <a:xfrm>
            <a:off x="6013122" y="1704877"/>
            <a:ext cx="6197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635000" indent="-457200">
              <a:spcBef>
                <a:spcPts val="0"/>
              </a:spcBef>
              <a:buSzPts val="2800"/>
            </a:pPr>
            <a:r>
              <a:rPr lang="en-US" sz="1800" b="1" dirty="0"/>
              <a:t>Manual Deployment Risks:</a:t>
            </a:r>
            <a:r>
              <a:rPr lang="en-US" sz="1800" dirty="0"/>
              <a:t> Traditional deployment of the Item Exchange App was manual, leading to human error and potential downtime.</a:t>
            </a:r>
          </a:p>
          <a:p>
            <a:pPr marL="177800" indent="0">
              <a:spcBef>
                <a:spcPts val="0"/>
              </a:spcBef>
              <a:buSzPts val="2800"/>
              <a:buNone/>
            </a:pPr>
            <a:endParaRPr lang="en-US" sz="1800" dirty="0"/>
          </a:p>
          <a:p>
            <a:pPr marL="635000" indent="-457200">
              <a:spcBef>
                <a:spcPts val="0"/>
              </a:spcBef>
              <a:buSzPts val="2800"/>
            </a:pPr>
            <a:r>
              <a:rPr lang="en-US" sz="1800" b="1" dirty="0"/>
              <a:t>Environment Inconsistency:</a:t>
            </a:r>
            <a:r>
              <a:rPr lang="en-US" sz="1800" dirty="0"/>
              <a:t> "It works on my machine" issues between development and production</a:t>
            </a:r>
          </a:p>
          <a:p>
            <a:pPr marL="635000" indent="-457200">
              <a:spcBef>
                <a:spcPts val="0"/>
              </a:spcBef>
              <a:buSzPts val="2800"/>
            </a:pPr>
            <a:endParaRPr lang="en-US" sz="1800" dirty="0"/>
          </a:p>
          <a:p>
            <a:pPr marL="635000" indent="-457200">
              <a:spcBef>
                <a:spcPts val="0"/>
              </a:spcBef>
              <a:buSzPts val="2800"/>
            </a:pPr>
            <a:r>
              <a:rPr lang="en-US" sz="1800" b="1" dirty="0"/>
              <a:t>Lack of Automation:</a:t>
            </a:r>
            <a:r>
              <a:rPr lang="en-US" sz="1800" dirty="0"/>
              <a:t> No standardized process for testing and pushing code, resulting in slow-release cycles.</a:t>
            </a:r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</p:txBody>
      </p:sp>
      <p:sp>
        <p:nvSpPr>
          <p:cNvPr id="202" name="Google Shape;20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03" name="Google Shape;203;p1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E559F335-69B1-7484-EFC6-3ED9C8D58DA7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324C076-81B3-EF1F-BD91-8F8658E18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57" y="3011315"/>
            <a:ext cx="4940431" cy="1325563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2E050EF1-66D2-C9A6-C07E-F88916B6B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>
            <a:extLst>
              <a:ext uri="{FF2B5EF4-FFF2-40B4-BE49-F238E27FC236}">
                <a16:creationId xmlns:a16="http://schemas.microsoft.com/office/drawing/2014/main" id="{33790B88-4E9B-3F46-41BA-8D6D7DC57F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64374" y="891061"/>
            <a:ext cx="690372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177800" indent="0" algn="ctr">
              <a:spcBef>
                <a:spcPts val="0"/>
              </a:spcBef>
              <a:buSzPts val="2800"/>
              <a:buNone/>
            </a:pPr>
            <a:r>
              <a:rPr lang="en-US" sz="2000" b="1" dirty="0"/>
              <a:t>Fully Automated DEVOPS Pipeline:</a:t>
            </a:r>
            <a:r>
              <a:rPr lang="en-US" sz="2000" dirty="0"/>
              <a:t> A "commit-to-production" workflow ensuring seamless updates, high availability, consistency and automated infrastructure management.</a:t>
            </a:r>
          </a:p>
        </p:txBody>
      </p:sp>
      <p:sp>
        <p:nvSpPr>
          <p:cNvPr id="202" name="Google Shape;202;p10">
            <a:extLst>
              <a:ext uri="{FF2B5EF4-FFF2-40B4-BE49-F238E27FC236}">
                <a16:creationId xmlns:a16="http://schemas.microsoft.com/office/drawing/2014/main" id="{663DE40A-B2CD-371A-1FEE-DA73CF143EA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03" name="Google Shape;203;p10">
            <a:extLst>
              <a:ext uri="{FF2B5EF4-FFF2-40B4-BE49-F238E27FC236}">
                <a16:creationId xmlns:a16="http://schemas.microsoft.com/office/drawing/2014/main" id="{9E8854B3-DD5B-486C-B026-7603A537655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">
            <a:extLst>
              <a:ext uri="{FF2B5EF4-FFF2-40B4-BE49-F238E27FC236}">
                <a16:creationId xmlns:a16="http://schemas.microsoft.com/office/drawing/2014/main" id="{BF1850B6-D315-3AA1-A244-4260FE4CC9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09E6DBC7-839D-823C-9BF1-0A60C40BE98C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778A734-8E85-A45A-96BF-350949D7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6019" y="1250512"/>
            <a:ext cx="4940431" cy="1325563"/>
          </a:xfrm>
        </p:spPr>
        <p:txBody>
          <a:bodyPr>
            <a:normAutofit/>
          </a:bodyPr>
          <a:lstStyle/>
          <a:p>
            <a:r>
              <a:rPr lang="en-US" dirty="0"/>
              <a:t>Proposed Solution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912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04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7035872" y="5118445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endParaRPr lang="en-US" sz="1800" b="1" dirty="0">
              <a:solidFill>
                <a:schemeClr val="tx1"/>
              </a:solidFill>
            </a:endParaRPr>
          </a:p>
          <a:p>
            <a:pPr lvl="0" algn="ctr"/>
            <a:r>
              <a:rPr lang="en-US" sz="1800" b="1" dirty="0">
                <a:solidFill>
                  <a:schemeClr val="tx1"/>
                </a:solidFill>
              </a:rPr>
              <a:t>Secure Data</a:t>
            </a:r>
            <a:endParaRPr sz="18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7035872" y="3715234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endParaRPr lang="en-US" sz="1800" b="1" dirty="0">
              <a:solidFill>
                <a:schemeClr val="tx1"/>
              </a:solidFill>
            </a:endParaRPr>
          </a:p>
          <a:p>
            <a:pPr lvl="0" algn="ctr"/>
            <a:r>
              <a:rPr lang="en-US" sz="1800" b="1" dirty="0">
                <a:solidFill>
                  <a:schemeClr val="tx1"/>
                </a:solidFill>
              </a:rPr>
              <a:t>Distributed Build Architecture</a:t>
            </a:r>
            <a:endParaRPr sz="18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7035872" y="2246797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>
            <a:spLocks noGrp="1"/>
          </p:cNvSpPr>
          <p:nvPr>
            <p:ph type="title"/>
          </p:nvPr>
        </p:nvSpPr>
        <p:spPr>
          <a:xfrm>
            <a:off x="7035872" y="2312023"/>
            <a:ext cx="4196424" cy="827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/>
            <a:r>
              <a:rPr lang="en-US" sz="2000" b="1" dirty="0">
                <a:solidFill>
                  <a:schemeClr val="tx1"/>
                </a:solidFill>
              </a:rPr>
              <a:t>Cloud-Native Infrastructure</a:t>
            </a: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E559F335-69B1-7484-EFC6-3ED9C8D58DA7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5">
            <a:extLst>
              <a:ext uri="{FF2B5EF4-FFF2-40B4-BE49-F238E27FC236}">
                <a16:creationId xmlns:a16="http://schemas.microsoft.com/office/drawing/2014/main" id="{9042C84D-54AF-8A42-99D4-3114E75615B6}"/>
              </a:ext>
            </a:extLst>
          </p:cNvPr>
          <p:cNvSpPr txBox="1">
            <a:spLocks/>
          </p:cNvSpPr>
          <p:nvPr/>
        </p:nvSpPr>
        <p:spPr>
          <a:xfrm>
            <a:off x="561975" y="1263343"/>
            <a:ext cx="49404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Key Features</a:t>
            </a:r>
            <a:br>
              <a:rPr lang="en-US" dirty="0"/>
            </a:br>
            <a:endParaRPr lang="en-US" dirty="0"/>
          </a:p>
        </p:txBody>
      </p:sp>
      <p:sp>
        <p:nvSpPr>
          <p:cNvPr id="9" name="Google Shape;207;p10">
            <a:extLst>
              <a:ext uri="{FF2B5EF4-FFF2-40B4-BE49-F238E27FC236}">
                <a16:creationId xmlns:a16="http://schemas.microsoft.com/office/drawing/2014/main" id="{957A103C-7CA7-5D17-0CB8-E8EB196AEBE0}"/>
              </a:ext>
            </a:extLst>
          </p:cNvPr>
          <p:cNvSpPr/>
          <p:nvPr/>
        </p:nvSpPr>
        <p:spPr>
          <a:xfrm>
            <a:off x="2477557" y="5100684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endParaRPr lang="en-US" sz="1800" b="1" dirty="0">
              <a:solidFill>
                <a:schemeClr val="tx1"/>
              </a:solidFill>
            </a:endParaRPr>
          </a:p>
          <a:p>
            <a:pPr lvl="0" algn="ctr"/>
            <a:r>
              <a:rPr lang="en-US" sz="1800" b="1" dirty="0">
                <a:solidFill>
                  <a:schemeClr val="tx1"/>
                </a:solidFill>
              </a:rPr>
              <a:t>Lightweight Orchestration</a:t>
            </a:r>
            <a:endParaRPr sz="18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07;p10">
            <a:extLst>
              <a:ext uri="{FF2B5EF4-FFF2-40B4-BE49-F238E27FC236}">
                <a16:creationId xmlns:a16="http://schemas.microsoft.com/office/drawing/2014/main" id="{F3C8DAC5-B46D-2221-C88A-82F28A13A573}"/>
              </a:ext>
            </a:extLst>
          </p:cNvPr>
          <p:cNvSpPr/>
          <p:nvPr/>
        </p:nvSpPr>
        <p:spPr>
          <a:xfrm>
            <a:off x="2477557" y="2246797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endParaRPr lang="en-US" sz="1800" b="1" dirty="0">
              <a:solidFill>
                <a:schemeClr val="tx1"/>
              </a:solidFill>
            </a:endParaRPr>
          </a:p>
          <a:p>
            <a:pPr lvl="0" algn="ctr"/>
            <a:r>
              <a:rPr lang="en-US" sz="1800" b="1" dirty="0">
                <a:solidFill>
                  <a:schemeClr val="tx1"/>
                </a:solidFill>
              </a:rPr>
              <a:t>Automated CI/CD</a:t>
            </a:r>
            <a:endParaRPr sz="18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07;p10">
            <a:extLst>
              <a:ext uri="{FF2B5EF4-FFF2-40B4-BE49-F238E27FC236}">
                <a16:creationId xmlns:a16="http://schemas.microsoft.com/office/drawing/2014/main" id="{708AC44E-9406-A80C-B062-B2F507AE0D30}"/>
              </a:ext>
            </a:extLst>
          </p:cNvPr>
          <p:cNvSpPr/>
          <p:nvPr/>
        </p:nvSpPr>
        <p:spPr>
          <a:xfrm>
            <a:off x="2477557" y="3715234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endParaRPr lang="en-US" sz="1800" b="1" dirty="0">
              <a:solidFill>
                <a:schemeClr val="tx1"/>
              </a:solidFill>
            </a:endParaRPr>
          </a:p>
          <a:p>
            <a:pPr lvl="0" algn="ctr"/>
            <a:r>
              <a:rPr lang="en-US" sz="1800" b="1" dirty="0">
                <a:solidFill>
                  <a:schemeClr val="tx1"/>
                </a:solidFill>
              </a:rPr>
              <a:t>Full-Stack Containerization</a:t>
            </a:r>
            <a:endParaRPr lang="en-US" sz="18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>
            <a:spLocks noGrp="1"/>
          </p:cNvSpPr>
          <p:nvPr>
            <p:ph type="body" idx="1"/>
          </p:nvPr>
        </p:nvSpPr>
        <p:spPr>
          <a:xfrm>
            <a:off x="342895" y="1544558"/>
            <a:ext cx="5324856" cy="75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>
              <a:spcBef>
                <a:spcPts val="0"/>
              </a:spcBef>
              <a:buSzPts val="2800"/>
              <a:buNone/>
            </a:pPr>
            <a:r>
              <a:rPr lang="en-US" dirty="0"/>
              <a:t>Tools &amp; Infrastructure</a:t>
            </a:r>
            <a:endParaRPr dirty="0"/>
          </a:p>
        </p:txBody>
      </p:sp>
      <p:sp>
        <p:nvSpPr>
          <p:cNvPr id="202" name="Google Shape;20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04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5124450" y="2437294"/>
            <a:ext cx="1923099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RDS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E559F335-69B1-7484-EFC6-3ED9C8D58DA7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07;p10">
            <a:extLst>
              <a:ext uri="{FF2B5EF4-FFF2-40B4-BE49-F238E27FC236}">
                <a16:creationId xmlns:a16="http://schemas.microsoft.com/office/drawing/2014/main" id="{3C0BBF81-E03C-BD52-5F96-C226E09AA189}"/>
              </a:ext>
            </a:extLst>
          </p:cNvPr>
          <p:cNvSpPr/>
          <p:nvPr/>
        </p:nvSpPr>
        <p:spPr>
          <a:xfrm>
            <a:off x="7560367" y="2418797"/>
            <a:ext cx="1839476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endParaRPr lang="en-US" sz="1800" dirty="0"/>
          </a:p>
          <a:p>
            <a:pPr lvl="0" algn="ctr"/>
            <a:r>
              <a:rPr lang="en-US" sz="1800" dirty="0"/>
              <a:t>AWS ECR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7;p10">
            <a:extLst>
              <a:ext uri="{FF2B5EF4-FFF2-40B4-BE49-F238E27FC236}">
                <a16:creationId xmlns:a16="http://schemas.microsoft.com/office/drawing/2014/main" id="{49DEEEE3-33DF-135B-E270-307B3184D171}"/>
              </a:ext>
            </a:extLst>
          </p:cNvPr>
          <p:cNvSpPr/>
          <p:nvPr/>
        </p:nvSpPr>
        <p:spPr>
          <a:xfrm>
            <a:off x="2570799" y="2458748"/>
            <a:ext cx="2040833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EC2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07;p10">
            <a:extLst>
              <a:ext uri="{FF2B5EF4-FFF2-40B4-BE49-F238E27FC236}">
                <a16:creationId xmlns:a16="http://schemas.microsoft.com/office/drawing/2014/main" id="{B304C1D0-75DF-C869-3462-97F31EFE3B39}"/>
              </a:ext>
            </a:extLst>
          </p:cNvPr>
          <p:cNvSpPr/>
          <p:nvPr/>
        </p:nvSpPr>
        <p:spPr>
          <a:xfrm>
            <a:off x="9896374" y="3894660"/>
            <a:ext cx="1923099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endParaRPr lang="en-US" sz="2000" dirty="0"/>
          </a:p>
          <a:p>
            <a:pPr algn="ctr"/>
            <a:r>
              <a:rPr lang="en-US" sz="2000" dirty="0"/>
              <a:t>Jenkins</a:t>
            </a: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07;p10">
            <a:extLst>
              <a:ext uri="{FF2B5EF4-FFF2-40B4-BE49-F238E27FC236}">
                <a16:creationId xmlns:a16="http://schemas.microsoft.com/office/drawing/2014/main" id="{414B2601-85BE-62B5-B403-F4741D740D2C}"/>
              </a:ext>
            </a:extLst>
          </p:cNvPr>
          <p:cNvSpPr/>
          <p:nvPr/>
        </p:nvSpPr>
        <p:spPr>
          <a:xfrm>
            <a:off x="5124450" y="3894660"/>
            <a:ext cx="1923392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K3S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07;p10">
            <a:extLst>
              <a:ext uri="{FF2B5EF4-FFF2-40B4-BE49-F238E27FC236}">
                <a16:creationId xmlns:a16="http://schemas.microsoft.com/office/drawing/2014/main" id="{045E7FF3-820B-41ED-52F3-CAA9B7FF887C}"/>
              </a:ext>
            </a:extLst>
          </p:cNvPr>
          <p:cNvSpPr/>
          <p:nvPr/>
        </p:nvSpPr>
        <p:spPr>
          <a:xfrm>
            <a:off x="2570799" y="3894660"/>
            <a:ext cx="2040833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Docker 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07;p10">
            <a:extLst>
              <a:ext uri="{FF2B5EF4-FFF2-40B4-BE49-F238E27FC236}">
                <a16:creationId xmlns:a16="http://schemas.microsoft.com/office/drawing/2014/main" id="{51D2D672-BE00-9C92-B44E-AD20CF7926C1}"/>
              </a:ext>
            </a:extLst>
          </p:cNvPr>
          <p:cNvSpPr/>
          <p:nvPr/>
        </p:nvSpPr>
        <p:spPr>
          <a:xfrm>
            <a:off x="9896375" y="2418797"/>
            <a:ext cx="1923099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Terraform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07;p10">
            <a:extLst>
              <a:ext uri="{FF2B5EF4-FFF2-40B4-BE49-F238E27FC236}">
                <a16:creationId xmlns:a16="http://schemas.microsoft.com/office/drawing/2014/main" id="{FF31484C-5EC5-3F09-65A6-D59EDDFCCBDA}"/>
              </a:ext>
            </a:extLst>
          </p:cNvPr>
          <p:cNvSpPr/>
          <p:nvPr/>
        </p:nvSpPr>
        <p:spPr>
          <a:xfrm>
            <a:off x="7560367" y="3894660"/>
            <a:ext cx="1839476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Traefik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838200" y="2767647"/>
            <a:ext cx="4755007" cy="1183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Architecture Design</a:t>
            </a:r>
            <a:endParaRPr dirty="0"/>
          </a:p>
        </p:txBody>
      </p:sp>
      <p:sp>
        <p:nvSpPr>
          <p:cNvPr id="192" name="Google Shape;19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C325A2E1-EEF7-90FC-497A-24325092349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A1556197-8C16-5F36-4FF8-9523E511DE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075" y="425450"/>
            <a:ext cx="4840224" cy="58656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F1132C3-6AC3-C86F-040C-50CBF479A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>
            <a:extLst>
              <a:ext uri="{FF2B5EF4-FFF2-40B4-BE49-F238E27FC236}">
                <a16:creationId xmlns:a16="http://schemas.microsoft.com/office/drawing/2014/main" id="{8413A562-00C3-3CF1-BAA8-F62079A912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4040" y="2191130"/>
            <a:ext cx="6197600" cy="178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1800" b="1" dirty="0"/>
              <a:t>Container Strategy:</a:t>
            </a:r>
            <a:endParaRPr lang="en-US" sz="1800" dirty="0"/>
          </a:p>
          <a:p>
            <a:pPr lvl="1"/>
            <a:r>
              <a:rPr lang="en-US" sz="1800" b="1" dirty="0"/>
              <a:t>Frontend container:</a:t>
            </a:r>
            <a:r>
              <a:rPr lang="en-US" sz="1800" dirty="0"/>
              <a:t> Multi-stage build (React build → Nginx serve).</a:t>
            </a:r>
          </a:p>
          <a:p>
            <a:pPr lvl="1"/>
            <a:r>
              <a:rPr lang="en-US" sz="1800" b="1" dirty="0"/>
              <a:t>Backend container :</a:t>
            </a:r>
            <a:r>
              <a:rPr lang="en-US" sz="1800" dirty="0"/>
              <a:t> Node.js environment running Express &amp; Socket.io.</a:t>
            </a:r>
          </a:p>
        </p:txBody>
      </p:sp>
      <p:sp>
        <p:nvSpPr>
          <p:cNvPr id="202" name="Google Shape;202;p10">
            <a:extLst>
              <a:ext uri="{FF2B5EF4-FFF2-40B4-BE49-F238E27FC236}">
                <a16:creationId xmlns:a16="http://schemas.microsoft.com/office/drawing/2014/main" id="{F11F1F2F-5B73-695B-6095-3867A261041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04" name="Google Shape;204;p10">
            <a:extLst>
              <a:ext uri="{FF2B5EF4-FFF2-40B4-BE49-F238E27FC236}">
                <a16:creationId xmlns:a16="http://schemas.microsoft.com/office/drawing/2014/main" id="{DF012886-0F60-ADBE-3086-BBF22ECAF9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DC25D8EC-D683-A952-5378-889AF7F28CDC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6F2001A-E699-E68B-15CA-7EB7AD07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013895"/>
            <a:ext cx="9487816" cy="1325563"/>
          </a:xfrm>
        </p:spPr>
        <p:txBody>
          <a:bodyPr>
            <a:normAutofit/>
          </a:bodyPr>
          <a:lstStyle/>
          <a:p>
            <a:r>
              <a:rPr lang="en-US" sz="3200" dirty="0"/>
              <a:t>Implementation Phase 1 – Containerization &amp; Registry</a:t>
            </a:r>
          </a:p>
        </p:txBody>
      </p:sp>
      <p:sp>
        <p:nvSpPr>
          <p:cNvPr id="3" name="Google Shape;201;p10">
            <a:extLst>
              <a:ext uri="{FF2B5EF4-FFF2-40B4-BE49-F238E27FC236}">
                <a16:creationId xmlns:a16="http://schemas.microsoft.com/office/drawing/2014/main" id="{740D68A0-1CFF-C343-5AE7-17F3508286E3}"/>
              </a:ext>
            </a:extLst>
          </p:cNvPr>
          <p:cNvSpPr txBox="1">
            <a:spLocks/>
          </p:cNvSpPr>
          <p:nvPr/>
        </p:nvSpPr>
        <p:spPr>
          <a:xfrm>
            <a:off x="574040" y="4131682"/>
            <a:ext cx="6197600" cy="1528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71500" lvl="1" indent="0">
              <a:buFont typeface="Arial"/>
              <a:buNone/>
            </a:pPr>
            <a:endParaRPr lang="en-US" sz="1800" dirty="0"/>
          </a:p>
          <a:p>
            <a:r>
              <a:rPr lang="en-US" sz="1900" b="1" dirty="0"/>
              <a:t>AWS ECR (Elastic Container Registry):</a:t>
            </a:r>
            <a:endParaRPr lang="en-US" sz="1900" dirty="0"/>
          </a:p>
          <a:p>
            <a:pPr lvl="1"/>
            <a:r>
              <a:rPr lang="en-US" sz="1800" dirty="0"/>
              <a:t>Two repositories: jack-frontend and jack-backend.</a:t>
            </a:r>
          </a:p>
          <a:p>
            <a:pPr lvl="1"/>
            <a:r>
              <a:rPr lang="en-US" sz="1800" b="1" dirty="0"/>
              <a:t>Automation:</a:t>
            </a:r>
            <a:r>
              <a:rPr lang="en-US" sz="1800" dirty="0"/>
              <a:t> Jenkins automatically pushes new tagged images to ECR on every successful build.</a:t>
            </a:r>
          </a:p>
          <a:p>
            <a:pPr marL="571500" lvl="1" indent="0">
              <a:buFont typeface="Arial"/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61093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5CC3B623-3C95-1141-34AF-B1C8C6D03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>
            <a:extLst>
              <a:ext uri="{FF2B5EF4-FFF2-40B4-BE49-F238E27FC236}">
                <a16:creationId xmlns:a16="http://schemas.microsoft.com/office/drawing/2014/main" id="{C4052DB4-7BA1-F5A4-0663-C05F83F590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325" y="2111888"/>
            <a:ext cx="6197600" cy="2231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1800" b="1" dirty="0"/>
              <a:t>EC2 Ubuntu 22.04:</a:t>
            </a:r>
            <a:endParaRPr lang="en-US" sz="1800" dirty="0"/>
          </a:p>
          <a:p>
            <a:pPr lvl="1"/>
            <a:r>
              <a:rPr lang="en-US" sz="1800" b="1" dirty="0"/>
              <a:t>K3s Cluster Node:</a:t>
            </a:r>
            <a:r>
              <a:rPr lang="en-US" sz="1800" dirty="0"/>
              <a:t> Runs K3s Kubernetes and hosts the entire application. </a:t>
            </a:r>
          </a:p>
          <a:p>
            <a:pPr lvl="1"/>
            <a:r>
              <a:rPr lang="en-US" sz="1800" b="1" dirty="0"/>
              <a:t>Jenkins Controller:</a:t>
            </a:r>
            <a:r>
              <a:rPr lang="en-US" sz="1800" dirty="0"/>
              <a:t> Orchestrates CI/CD pipeline execution.</a:t>
            </a:r>
          </a:p>
          <a:p>
            <a:pPr lvl="1"/>
            <a:r>
              <a:rPr lang="en-US" sz="1900" b="1" dirty="0"/>
              <a:t>Jenkins Worker Node: </a:t>
            </a:r>
            <a:r>
              <a:rPr lang="en-US" sz="1900" dirty="0"/>
              <a:t>Runs Docker builds and </a:t>
            </a:r>
            <a:r>
              <a:rPr lang="en-US" sz="1900" dirty="0" err="1"/>
              <a:t>kubectl</a:t>
            </a:r>
            <a:r>
              <a:rPr lang="en-US" sz="1900" dirty="0"/>
              <a:t> deployments.</a:t>
            </a:r>
          </a:p>
          <a:p>
            <a:pPr marL="571500" lvl="1" indent="0">
              <a:buNone/>
            </a:pPr>
            <a:endParaRPr lang="en-US" sz="1800" dirty="0"/>
          </a:p>
        </p:txBody>
      </p:sp>
      <p:sp>
        <p:nvSpPr>
          <p:cNvPr id="202" name="Google Shape;202;p10">
            <a:extLst>
              <a:ext uri="{FF2B5EF4-FFF2-40B4-BE49-F238E27FC236}">
                <a16:creationId xmlns:a16="http://schemas.microsoft.com/office/drawing/2014/main" id="{52E08125-D34A-D5A2-EB8B-320F2BF12DB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04" name="Google Shape;204;p10">
            <a:extLst>
              <a:ext uri="{FF2B5EF4-FFF2-40B4-BE49-F238E27FC236}">
                <a16:creationId xmlns:a16="http://schemas.microsoft.com/office/drawing/2014/main" id="{72A8110B-4877-C6ED-A059-71131D4ED7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659836A-DE6A-19DC-6F9E-8B880AC78BC5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30E59487-22A9-CC68-ECD3-F5AB94BDB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013895"/>
            <a:ext cx="9487816" cy="1325563"/>
          </a:xfrm>
        </p:spPr>
        <p:txBody>
          <a:bodyPr>
            <a:normAutofit/>
          </a:bodyPr>
          <a:lstStyle/>
          <a:p>
            <a:r>
              <a:rPr lang="en-US" sz="3200" dirty="0"/>
              <a:t>Implementation Phase 2 – AWS Infrastructure Setup</a:t>
            </a:r>
          </a:p>
        </p:txBody>
      </p:sp>
      <p:sp>
        <p:nvSpPr>
          <p:cNvPr id="12" name="Google Shape;201;p10">
            <a:extLst>
              <a:ext uri="{FF2B5EF4-FFF2-40B4-BE49-F238E27FC236}">
                <a16:creationId xmlns:a16="http://schemas.microsoft.com/office/drawing/2014/main" id="{476B05EF-EDCF-1AA0-AB00-2A11A11385EB}"/>
              </a:ext>
            </a:extLst>
          </p:cNvPr>
          <p:cNvSpPr txBox="1">
            <a:spLocks/>
          </p:cNvSpPr>
          <p:nvPr/>
        </p:nvSpPr>
        <p:spPr>
          <a:xfrm>
            <a:off x="5658485" y="3922930"/>
            <a:ext cx="6197600" cy="230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71500" lvl="1" indent="0">
              <a:buNone/>
            </a:pPr>
            <a:endParaRPr lang="en-US" sz="1800" dirty="0"/>
          </a:p>
          <a:p>
            <a:r>
              <a:rPr lang="en-US" sz="1900" b="1" dirty="0"/>
              <a:t>AWS </a:t>
            </a:r>
            <a:r>
              <a:rPr lang="en-US" sz="2000" b="1" dirty="0"/>
              <a:t>RDS</a:t>
            </a:r>
            <a:r>
              <a:rPr lang="en-US" sz="2000" dirty="0"/>
              <a:t> (</a:t>
            </a:r>
            <a:r>
              <a:rPr lang="en-US" sz="1900" b="1" dirty="0"/>
              <a:t>Relational database service):</a:t>
            </a:r>
            <a:endParaRPr lang="en-US" sz="1900" dirty="0"/>
          </a:p>
          <a:p>
            <a:pPr lvl="1"/>
            <a:r>
              <a:rPr lang="en-US" sz="1900" dirty="0"/>
              <a:t>Engine: PostgreSQL.</a:t>
            </a:r>
          </a:p>
          <a:p>
            <a:pPr lvl="1"/>
            <a:r>
              <a:rPr lang="en-US" sz="1900" dirty="0"/>
              <a:t>Security: Placed in a Private Subnet.</a:t>
            </a:r>
          </a:p>
          <a:p>
            <a:pPr lvl="1"/>
            <a:r>
              <a:rPr lang="en-US" sz="1900" dirty="0"/>
              <a:t>Access Control: Security Group configured to accept traffic only from the Backend K3s pods.</a:t>
            </a:r>
          </a:p>
          <a:p>
            <a:pPr marL="571500" lvl="1" indent="0">
              <a:buFont typeface="Arial"/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15860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30662E40-8E61-7B5B-6DA3-5D12F3503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>
            <a:extLst>
              <a:ext uri="{FF2B5EF4-FFF2-40B4-BE49-F238E27FC236}">
                <a16:creationId xmlns:a16="http://schemas.microsoft.com/office/drawing/2014/main" id="{19377813-F6A8-CC7E-6E4E-924C64AD614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04" name="Google Shape;204;p10">
            <a:extLst>
              <a:ext uri="{FF2B5EF4-FFF2-40B4-BE49-F238E27FC236}">
                <a16:creationId xmlns:a16="http://schemas.microsoft.com/office/drawing/2014/main" id="{12D11FBD-92E4-3C7C-1487-259ADF53A6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BD5DCB73-BADF-6F81-B781-9BC94771639D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F390CF4-9812-1310-54AA-CDCC63951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013895"/>
            <a:ext cx="9487816" cy="1325563"/>
          </a:xfrm>
        </p:spPr>
        <p:txBody>
          <a:bodyPr>
            <a:normAutofit/>
          </a:bodyPr>
          <a:lstStyle/>
          <a:p>
            <a:r>
              <a:rPr lang="en-US" sz="3200" dirty="0"/>
              <a:t>Implementation Phase 3 – K3s Deployment &amp; Ingress</a:t>
            </a:r>
          </a:p>
        </p:txBody>
      </p:sp>
      <p:sp>
        <p:nvSpPr>
          <p:cNvPr id="8" name="Google Shape;201;p10">
            <a:extLst>
              <a:ext uri="{FF2B5EF4-FFF2-40B4-BE49-F238E27FC236}">
                <a16:creationId xmlns:a16="http://schemas.microsoft.com/office/drawing/2014/main" id="{1863EFC3-A374-172C-8881-DBC27D864D5E}"/>
              </a:ext>
            </a:extLst>
          </p:cNvPr>
          <p:cNvSpPr txBox="1">
            <a:spLocks/>
          </p:cNvSpPr>
          <p:nvPr/>
        </p:nvSpPr>
        <p:spPr>
          <a:xfrm>
            <a:off x="695325" y="1986111"/>
            <a:ext cx="6197600" cy="3457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b="1" dirty="0"/>
              <a:t>Orchestration (K3s):</a:t>
            </a:r>
          </a:p>
          <a:p>
            <a:pPr lvl="1"/>
            <a:r>
              <a:rPr lang="en-US" sz="1800" dirty="0"/>
              <a:t>Deployed lightweight Kubernetes on EC2.</a:t>
            </a:r>
          </a:p>
          <a:p>
            <a:pPr lvl="1"/>
            <a:r>
              <a:rPr lang="en-US" sz="1800" dirty="0"/>
              <a:t>Managed via Deployments (</a:t>
            </a:r>
            <a:r>
              <a:rPr lang="en-US" sz="1800" dirty="0" err="1"/>
              <a:t>ReplicaSets</a:t>
            </a:r>
            <a:r>
              <a:rPr lang="en-US" sz="1800" dirty="0"/>
              <a:t>) and </a:t>
            </a:r>
            <a:r>
              <a:rPr lang="en-US" sz="1800" dirty="0" err="1"/>
              <a:t>ClusterIP</a:t>
            </a:r>
            <a:r>
              <a:rPr lang="en-US" sz="1800" dirty="0"/>
              <a:t> Services.</a:t>
            </a:r>
          </a:p>
          <a:p>
            <a:pPr marL="571500" lvl="1" indent="0">
              <a:buNone/>
            </a:pPr>
            <a:endParaRPr lang="en-US" sz="1800" dirty="0"/>
          </a:p>
          <a:p>
            <a:r>
              <a:rPr lang="en-US" sz="1800" b="1" dirty="0"/>
              <a:t>Configuration:</a:t>
            </a:r>
          </a:p>
          <a:p>
            <a:pPr lvl="1"/>
            <a:r>
              <a:rPr lang="en-US" sz="1800" dirty="0"/>
              <a:t>Environment variables (like </a:t>
            </a:r>
            <a:r>
              <a:rPr lang="en-US" sz="1500" dirty="0"/>
              <a:t>DATABASE_URL</a:t>
            </a:r>
            <a:r>
              <a:rPr lang="en-US" sz="1800" dirty="0"/>
              <a:t>) injected via </a:t>
            </a:r>
            <a:r>
              <a:rPr lang="en-US" sz="1800" dirty="0" err="1"/>
              <a:t>ConfigMaps</a:t>
            </a:r>
            <a:r>
              <a:rPr lang="en-US" sz="1800" dirty="0"/>
              <a:t> and Secrets.</a:t>
            </a:r>
          </a:p>
          <a:p>
            <a:pPr marL="571500" lvl="1" indent="0">
              <a:buNone/>
            </a:pPr>
            <a:endParaRPr lang="en-US" sz="1800" dirty="0"/>
          </a:p>
          <a:p>
            <a:r>
              <a:rPr lang="en-US" sz="1800" b="1" dirty="0"/>
              <a:t>Traffic Management:</a:t>
            </a:r>
          </a:p>
          <a:p>
            <a:pPr lvl="1"/>
            <a:r>
              <a:rPr lang="en-US" sz="1800" dirty="0" err="1"/>
              <a:t>Traefik</a:t>
            </a:r>
            <a:r>
              <a:rPr lang="en-US" sz="1800" dirty="0"/>
              <a:t> Ingress Controller: Routes incoming HTTP traffic.</a:t>
            </a:r>
          </a:p>
          <a:p>
            <a:pPr lvl="1"/>
            <a:r>
              <a:rPr lang="en-US" sz="1800" dirty="0"/>
              <a:t>Public Access: Application live at http://16.170.173.4.</a:t>
            </a:r>
          </a:p>
        </p:txBody>
      </p:sp>
    </p:spTree>
    <p:extLst>
      <p:ext uri="{BB962C8B-B14F-4D97-AF65-F5344CB8AC3E}">
        <p14:creationId xmlns:p14="http://schemas.microsoft.com/office/powerpoint/2010/main" val="1424391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833B95B6-6AF9-9B7F-2B0E-45B0F8AFA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>
            <a:extLst>
              <a:ext uri="{FF2B5EF4-FFF2-40B4-BE49-F238E27FC236}">
                <a16:creationId xmlns:a16="http://schemas.microsoft.com/office/drawing/2014/main" id="{A6BD5503-6E97-AB5F-DE41-BF7F8E3900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2600" y="2339458"/>
            <a:ext cx="6197600" cy="1510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b="1" dirty="0"/>
              <a:t>Architecture:</a:t>
            </a:r>
            <a:endParaRPr lang="en-US" sz="2000" dirty="0"/>
          </a:p>
          <a:p>
            <a:pPr lvl="1"/>
            <a:r>
              <a:rPr lang="en-US" sz="1800" dirty="0"/>
              <a:t>Jenkins Controller → Manages jobs</a:t>
            </a:r>
          </a:p>
          <a:p>
            <a:pPr lvl="1"/>
            <a:r>
              <a:rPr lang="en-US" sz="1800" dirty="0"/>
              <a:t>Jenkins Worker → Builds Docker, pushes images, deploys to K3s.</a:t>
            </a:r>
          </a:p>
        </p:txBody>
      </p:sp>
      <p:sp>
        <p:nvSpPr>
          <p:cNvPr id="202" name="Google Shape;202;p10">
            <a:extLst>
              <a:ext uri="{FF2B5EF4-FFF2-40B4-BE49-F238E27FC236}">
                <a16:creationId xmlns:a16="http://schemas.microsoft.com/office/drawing/2014/main" id="{E8E49F52-5AD9-037C-1B6C-02CBAE8D48B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04" name="Google Shape;204;p10">
            <a:extLst>
              <a:ext uri="{FF2B5EF4-FFF2-40B4-BE49-F238E27FC236}">
                <a16:creationId xmlns:a16="http://schemas.microsoft.com/office/drawing/2014/main" id="{EBF131CE-ACE0-ABE7-5E79-C37B89DE37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4FC65DFF-06FC-0E60-4F27-D1B53F571044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69D66B95-E25D-1AB0-2282-47FFD63A9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013895"/>
            <a:ext cx="9487816" cy="1325563"/>
          </a:xfrm>
        </p:spPr>
        <p:txBody>
          <a:bodyPr>
            <a:normAutofit/>
          </a:bodyPr>
          <a:lstStyle/>
          <a:p>
            <a:r>
              <a:rPr lang="en-US" sz="3200" dirty="0"/>
              <a:t>Implementation Phase 4 – Jenkins Pipeline Workflow</a:t>
            </a:r>
          </a:p>
        </p:txBody>
      </p:sp>
      <p:sp>
        <p:nvSpPr>
          <p:cNvPr id="3" name="Google Shape;201;p10">
            <a:extLst>
              <a:ext uri="{FF2B5EF4-FFF2-40B4-BE49-F238E27FC236}">
                <a16:creationId xmlns:a16="http://schemas.microsoft.com/office/drawing/2014/main" id="{ED0016E0-EBBE-497A-6B19-840218C7A304}"/>
              </a:ext>
            </a:extLst>
          </p:cNvPr>
          <p:cNvSpPr txBox="1">
            <a:spLocks/>
          </p:cNvSpPr>
          <p:nvPr/>
        </p:nvSpPr>
        <p:spPr>
          <a:xfrm>
            <a:off x="7202971" y="1964554"/>
            <a:ext cx="3615944" cy="3457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71500" lvl="1" indent="0">
              <a:buFont typeface="Arial"/>
              <a:buNone/>
            </a:pPr>
            <a:endParaRPr lang="en-US" sz="1800" dirty="0"/>
          </a:p>
          <a:p>
            <a:r>
              <a:rPr lang="en-US" sz="2000" b="1" dirty="0"/>
              <a:t>Pipeline stages :</a:t>
            </a:r>
          </a:p>
          <a:p>
            <a:pPr lvl="1"/>
            <a:r>
              <a:rPr lang="en-US" sz="1900" dirty="0"/>
              <a:t>Checkout GitHub repo</a:t>
            </a:r>
          </a:p>
          <a:p>
            <a:pPr lvl="1"/>
            <a:r>
              <a:rPr lang="en-US" sz="1900" dirty="0"/>
              <a:t>Log in to ECR Public</a:t>
            </a:r>
          </a:p>
          <a:p>
            <a:pPr lvl="1"/>
            <a:r>
              <a:rPr lang="en-US" sz="1900" dirty="0"/>
              <a:t>Build frontend image</a:t>
            </a:r>
          </a:p>
          <a:p>
            <a:pPr lvl="1"/>
            <a:r>
              <a:rPr lang="en-US" sz="1900" dirty="0"/>
              <a:t>Build backend image</a:t>
            </a:r>
          </a:p>
          <a:p>
            <a:pPr lvl="1"/>
            <a:r>
              <a:rPr lang="en-US" sz="1900" dirty="0"/>
              <a:t>Push both images</a:t>
            </a:r>
          </a:p>
          <a:p>
            <a:pPr lvl="1"/>
            <a:r>
              <a:rPr lang="en-US" sz="1900" dirty="0"/>
              <a:t>Deploy to K3s using</a:t>
            </a:r>
          </a:p>
          <a:p>
            <a:pPr marL="571500" lvl="1" indent="0">
              <a:buFont typeface="Arial"/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11003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DAF49552-23A4-BA77-A5CD-75CA7D696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>
            <a:extLst>
              <a:ext uri="{FF2B5EF4-FFF2-40B4-BE49-F238E27FC236}">
                <a16:creationId xmlns:a16="http://schemas.microsoft.com/office/drawing/2014/main" id="{C18EEE36-5E31-0B34-4EE4-772A51E0E8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92948" y="2457449"/>
            <a:ext cx="6197600" cy="1625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</p:txBody>
      </p:sp>
      <p:sp>
        <p:nvSpPr>
          <p:cNvPr id="202" name="Google Shape;202;p10">
            <a:extLst>
              <a:ext uri="{FF2B5EF4-FFF2-40B4-BE49-F238E27FC236}">
                <a16:creationId xmlns:a16="http://schemas.microsoft.com/office/drawing/2014/main" id="{D544B84A-F78D-3589-CE35-8947A3A0D59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03" name="Google Shape;203;p10">
            <a:extLst>
              <a:ext uri="{FF2B5EF4-FFF2-40B4-BE49-F238E27FC236}">
                <a16:creationId xmlns:a16="http://schemas.microsoft.com/office/drawing/2014/main" id="{BFD4D344-0134-F823-3ACC-685AB23B76F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">
            <a:extLst>
              <a:ext uri="{FF2B5EF4-FFF2-40B4-BE49-F238E27FC236}">
                <a16:creationId xmlns:a16="http://schemas.microsoft.com/office/drawing/2014/main" id="{9553D697-A33A-58B6-B9EB-0C99FE7514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6CA619DE-B68D-1FE1-E305-9F5F5142ECE4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655A2A32-09BE-E3BC-DE15-253CD8A67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1131886"/>
            <a:ext cx="8840116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Live Application(on production)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8A6350-5C0F-0C49-F141-709AA3B47AC4}"/>
              </a:ext>
            </a:extLst>
          </p:cNvPr>
          <p:cNvSpPr txBox="1"/>
          <p:nvPr/>
        </p:nvSpPr>
        <p:spPr>
          <a:xfrm>
            <a:off x="5153025" y="2272783"/>
            <a:ext cx="2609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hlinkClick r:id="rId4"/>
              </a:rPr>
              <a:t>App </a:t>
            </a:r>
            <a:r>
              <a:rPr lang="en-US" sz="4000" dirty="0" err="1">
                <a:hlinkClick r:id="rId4"/>
              </a:rPr>
              <a:t>Url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46755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F7F694BE-7B54-DB73-5B16-620EF41B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>
            <a:extLst>
              <a:ext uri="{FF2B5EF4-FFF2-40B4-BE49-F238E27FC236}">
                <a16:creationId xmlns:a16="http://schemas.microsoft.com/office/drawing/2014/main" id="{515AA555-F39F-80C2-C6DC-B354FBEC66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92948" y="2457449"/>
            <a:ext cx="6197600" cy="1625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</p:txBody>
      </p:sp>
      <p:sp>
        <p:nvSpPr>
          <p:cNvPr id="202" name="Google Shape;202;p10">
            <a:extLst>
              <a:ext uri="{FF2B5EF4-FFF2-40B4-BE49-F238E27FC236}">
                <a16:creationId xmlns:a16="http://schemas.microsoft.com/office/drawing/2014/main" id="{89A3396F-0029-57DB-D652-321897B35FB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04" name="Google Shape;204;p10">
            <a:extLst>
              <a:ext uri="{FF2B5EF4-FFF2-40B4-BE49-F238E27FC236}">
                <a16:creationId xmlns:a16="http://schemas.microsoft.com/office/drawing/2014/main" id="{5008FFC5-1435-6209-FF85-636893511C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6BBF450F-5D9B-301C-8522-4705A9A902E6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0D1614C-DADF-A091-FE70-15EE85F31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1096853"/>
            <a:ext cx="4429125" cy="707886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Project Team + Roles</a:t>
            </a:r>
            <a:endParaRPr lang="en-US" sz="28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FC4CF06-3EA8-9E48-60FD-AE6D3EF9F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386112"/>
              </p:ext>
            </p:extLst>
          </p:nvPr>
        </p:nvGraphicFramePr>
        <p:xfrm>
          <a:off x="1181100" y="2131060"/>
          <a:ext cx="10696576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8288">
                  <a:extLst>
                    <a:ext uri="{9D8B030D-6E8A-4147-A177-3AD203B41FA5}">
                      <a16:colId xmlns:a16="http://schemas.microsoft.com/office/drawing/2014/main" val="3060717377"/>
                    </a:ext>
                  </a:extLst>
                </a:gridCol>
                <a:gridCol w="5348288">
                  <a:extLst>
                    <a:ext uri="{9D8B030D-6E8A-4147-A177-3AD203B41FA5}">
                      <a16:colId xmlns:a16="http://schemas.microsoft.com/office/drawing/2014/main" val="244514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616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Sama Mostafa </a:t>
                      </a:r>
                      <a:r>
                        <a:rPr lang="en-US" dirty="0" err="1"/>
                        <a:t>Fazaa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Design &amp; implement CI/CD (Jenkins).</a:t>
                      </a:r>
                    </a:p>
                    <a:p>
                      <a:r>
                        <a:rPr lang="en-US" dirty="0"/>
                        <a:t>- Automate build and deploy pipeline to AWS.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891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Ahmed Hamdy Mahmoud </a:t>
                      </a:r>
                      <a:r>
                        <a:rPr lang="en-US" dirty="0" err="1"/>
                        <a:t>Elshewemy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- Write Terraform templates.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- Keep infrastructure versioned and reusable.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449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Osama Mamdouh Mohamed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Create Docker files for the item-exchange app</a:t>
                      </a:r>
                    </a:p>
                    <a:p>
                      <a:r>
                        <a:rPr lang="en-US" dirty="0"/>
                        <a:t>- Build and push images to Amazon ECR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576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Omar Said Omar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Create AWS account and monitor AWS costs.</a:t>
                      </a:r>
                    </a:p>
                    <a:p>
                      <a:r>
                        <a:rPr lang="en-US" dirty="0"/>
                        <a:t>- Configure VPCs and security groups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015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Mahmoud Gomaa </a:t>
                      </a:r>
                      <a:r>
                        <a:rPr lang="en-US" dirty="0" err="1"/>
                        <a:t>Abouelfetouh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Deploy and manage the K3s cluster on EC2.</a:t>
                      </a:r>
                    </a:p>
                    <a:p>
                      <a:r>
                        <a:rPr lang="en-US" dirty="0"/>
                        <a:t>- Configure </a:t>
                      </a:r>
                      <a:r>
                        <a:rPr lang="en-US" dirty="0" err="1"/>
                        <a:t>Traefik</a:t>
                      </a:r>
                      <a:r>
                        <a:rPr lang="en-US" dirty="0"/>
                        <a:t> Ingress, Services, and Deployments.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917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Mayar Khaled Mostafa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Configure the AWS RDS PostgreSQL instance.</a:t>
                      </a:r>
                    </a:p>
                    <a:p>
                      <a:r>
                        <a:rPr lang="en-US" dirty="0"/>
                        <a:t>- Manage database connectivity and private subnet configuration.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784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521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9B39DF89-8AED-5C0D-AD86-15EEF6CEB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>
            <a:extLst>
              <a:ext uri="{FF2B5EF4-FFF2-40B4-BE49-F238E27FC236}">
                <a16:creationId xmlns:a16="http://schemas.microsoft.com/office/drawing/2014/main" id="{01589F5C-0C5B-7717-D13B-59C46557FC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92948" y="2457449"/>
            <a:ext cx="6197600" cy="1625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dirty="0"/>
          </a:p>
        </p:txBody>
      </p:sp>
      <p:sp>
        <p:nvSpPr>
          <p:cNvPr id="202" name="Google Shape;202;p10">
            <a:extLst>
              <a:ext uri="{FF2B5EF4-FFF2-40B4-BE49-F238E27FC236}">
                <a16:creationId xmlns:a16="http://schemas.microsoft.com/office/drawing/2014/main" id="{4AD1E825-6655-68C8-22EE-E8A919EADBA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03" name="Google Shape;203;p10">
            <a:extLst>
              <a:ext uri="{FF2B5EF4-FFF2-40B4-BE49-F238E27FC236}">
                <a16:creationId xmlns:a16="http://schemas.microsoft.com/office/drawing/2014/main" id="{0976B7E0-1BC2-EF84-7FC8-DDE57ABB5F0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">
            <a:extLst>
              <a:ext uri="{FF2B5EF4-FFF2-40B4-BE49-F238E27FC236}">
                <a16:creationId xmlns:a16="http://schemas.microsoft.com/office/drawing/2014/main" id="{78A96058-0094-FAFC-1195-3A22FDD37C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CFC8360D-2714-74AB-7040-E090B804B2E3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899D7FF-A4B8-A301-9D99-270FB266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2457449"/>
            <a:ext cx="8840116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760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548</Words>
  <Application>Microsoft Office PowerPoint</Application>
  <PresentationFormat>Widescreen</PresentationFormat>
  <Paragraphs>144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Containerized Item Exchange Application</vt:lpstr>
      <vt:lpstr>Problem Statement </vt:lpstr>
      <vt:lpstr>Proposed Solution </vt:lpstr>
      <vt:lpstr>Cloud-Native Infrastructure</vt:lpstr>
      <vt:lpstr>PowerPoint Presentation</vt:lpstr>
      <vt:lpstr>Architecture Design</vt:lpstr>
      <vt:lpstr>Implementation Phase 1 – Containerization &amp; Registry</vt:lpstr>
      <vt:lpstr>Implementation Phase 2 – AWS Infrastructure Setup</vt:lpstr>
      <vt:lpstr>Implementation Phase 3 – K3s Deployment &amp; Ingress</vt:lpstr>
      <vt:lpstr>Implementation Phase 4 – Jenkins Pipeline Workflow</vt:lpstr>
      <vt:lpstr>Live Application(on production)</vt:lpstr>
      <vt:lpstr>Project Team + Roles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Sama 20210424</cp:lastModifiedBy>
  <cp:revision>9</cp:revision>
  <dcterms:created xsi:type="dcterms:W3CDTF">2024-03-14T10:03:54Z</dcterms:created>
  <dcterms:modified xsi:type="dcterms:W3CDTF">2025-11-30T20:57:27Z</dcterms:modified>
</cp:coreProperties>
</file>